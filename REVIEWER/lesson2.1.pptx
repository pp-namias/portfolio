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5" r:id="rId18"/>
    <p:sldId id="273" r:id="rId19"/>
    <p:sldId id="274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EADC1D-1740-FF40-A729-2AD77433634A}" v="5" dt="2025-08-13T23:20:30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4" autoAdjust="0"/>
    <p:restoredTop sz="88118" autoAdjust="0"/>
  </p:normalViewPr>
  <p:slideViewPr>
    <p:cSldViewPr snapToGrid="0">
      <p:cViewPr varScale="1">
        <p:scale>
          <a:sx n="76" d="100"/>
          <a:sy n="76" d="100"/>
        </p:scale>
        <p:origin x="167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28D3AE-D283-4BA9-8342-5B3760C8F4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1C987-852B-49F2-BEED-274926FE654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EAA59AE-F9E5-41CE-93AA-7EECEC19B6CC}" type="datetimeFigureOut">
              <a:rPr lang="en-US"/>
              <a:pPr>
                <a:defRPr/>
              </a:pPr>
              <a:t>8/26/25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31424E0-EFF8-4EC3-96E5-6209FFA27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2C3C229-7869-4EA4-A0B3-9A2399E6B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1FCAD-255C-4217-BAB0-FA881245BD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64655-1E60-495B-B952-80188A55E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614B802-FA46-4C7A-9386-C8D1D56024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00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A1E3-DDC1-3D20-4F38-F5D468B71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09746-92ED-264E-221D-03F342E4C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10222-7913-7233-524B-382D8781D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8D8888-4769-4F62-A364-7630BDAAAD0A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A13B1-A832-C541-A09E-420F77C3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CD1E3-D509-6BD0-4A5F-7BB0BB11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93A1C-FE34-4A0F-89D6-AC51ECCC98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0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C576-990C-4095-91C6-0C74BE67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8F9F4-8722-130B-3B88-88BC3676D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8F066-4262-3CBE-FB75-BE36D2AE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51D9D5-4D42-4CA8-8F4A-60D215F1F5B0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0D653-75FE-C21A-A713-E2562A20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65A11-152C-A89E-18BF-B07DFDB34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3DAE7C-B23F-46FB-A9B8-E98960AE77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3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5B55-2641-4897-0E91-B5ACCBE52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8185A-8036-DEBE-3967-6B3B4F27C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C3DB9-9AA8-199E-CC00-43D1D8D5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BD2BC7-68C6-4B8D-B254-1590C0CD9B16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2D731-15D9-362C-791C-D00501AA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8B8B3-6063-D578-2529-A59A9B9A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F77F37-D150-4A00-8443-3EF1B77CF2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7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1F8D-159F-7555-C5E8-56551CD86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B5ED6-085A-7470-5A12-21DC31B4B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044A4-2039-708C-557F-56F8DE2F7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97FD2-86D0-8412-E2F3-F86D22267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380B4B-F217-4C7E-9BF1-214583C18ED8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1E733-DDD5-5669-0BED-16AE8376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D2BEA-88C0-F531-1A23-E93A3647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8ADE4-9E27-4173-9F6E-418140A4869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8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1D764-5DE6-5811-1381-A5D952C3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3E804-7D44-0B49-3A3B-544EB985F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BBCFE-6424-E598-1C45-4546FEB55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5CAE8-1A5A-6377-BBA1-22253EA17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47BC5-DA93-0D51-CDF6-95A51A96E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BBC242-A551-B39C-47E8-B3B48B6BF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0D23CB-2625-4C6D-92CB-A72EFDA37A6D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2B70B0-D824-A102-99B7-954CD9F2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2A1C2B-9C59-39F4-306E-0DDCAAA96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599D96-DE76-4825-9D5A-39AD25FE939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9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EB41-E725-14B8-53E8-3302AB933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B3E75-222B-CC4D-9B6D-BD73B092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7D1464-4752-4760-BA26-F527B7414867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42E6C-CBBB-6934-87EF-F8B95267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35691-88BD-B1BB-D988-D76A93BF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1744E4-184A-4F3E-B7C8-B0EBD6E302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53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417DF-6048-F2DF-AA70-010CFFBE6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38E197-584D-45BF-9CB8-F963E5294B42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0BD24-016C-B2BA-47AC-217A07CAA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2415E-157F-37D6-B30F-ED89C19B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BD4F74-47AE-44DC-B216-9FEE10769AA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5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183D-62D5-1C04-8F61-C3CCF869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64D39-327A-28DE-F78D-CEB8BBB89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EA764-5894-45CB-8FB9-E1122E491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C3040-0084-F130-0EA4-FF650544E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0E2F51-FFB1-4E2C-A88A-BC18B3F80212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F648E-D6B0-E441-A683-5550432F3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75338-A179-F8CE-65A6-DE9E6D4E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FBD7D3-8082-4302-A19B-38B44F60B7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4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0511-5567-EFA7-7336-FF8844344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2F0673-BA7C-91FC-5E90-FA50666AD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02BA4-A218-D1E7-B40B-2DFD7C278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5D563-C4E0-6F57-8234-70C55005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F773B9-7336-475A-B69A-D584E4E5D730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FA850-8C03-82BE-940F-A93C8DAA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E29AF-9BA5-109D-6B07-21C424C65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DFFD2-901F-4B11-BA07-BF74EA6CB38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8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D51A-37AC-6020-DFB2-9A08F737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7933D-7531-17FC-B37F-49A851014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72DC7-903E-6345-A051-6555606C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DFBC78-8A9B-4858-8A71-1DCC2DDBAA68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2D432-87BF-B0B0-D18E-32C398E5F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2B8B9-9DC1-9331-9EE6-2FE48B0F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13BDEE-82EF-43A9-8D0E-2AB4081C28E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6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71E6D-A7D4-44EE-4603-77102BB43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A96E7-937D-DB62-80DC-37A91F190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A53C-7EED-64C5-71EE-6C8DF3F0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72F02-1255-4A87-9B3B-551500FEF114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CABDF-8FF8-F0F0-7E38-45B46616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E884-0405-64D4-1DE1-B25A6065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894B56-F628-42B4-B041-E43C79342B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1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3128CB-A6DA-A8E6-CA4F-743BA049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351EB-8017-01BE-D34C-4E35E7AD3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13D17-9477-C735-C250-CF7D203D4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E889BF90-953D-45C8-B68A-4479CB7DB2CD}" type="datetimeFigureOut">
              <a:rPr lang="en-US" smtClean="0"/>
              <a:pPr>
                <a:defRPr/>
              </a:pPr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5768F-64A8-A5D2-81D5-866D2A7F6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1C3F0-717F-ECCC-3AFA-C03F69407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D3030582-0556-44CA-9A8F-5E2B87E66B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1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../videos/The%20Ten%20Commandments%20of%20Computer%20Ethics.mp4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F94237-0536-4DB1-8C95-39E355CED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Rectangle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Manometer beer equipment">
            <a:extLst>
              <a:ext uri="{FF2B5EF4-FFF2-40B4-BE49-F238E27FC236}">
                <a16:creationId xmlns:a16="http://schemas.microsoft.com/office/drawing/2014/main" id="{9234AEB8-4242-B85E-01A4-E0921ED842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3833" b="11262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94CEDC-83E9-4CE2-AFAE-29E258EB0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rtlCol="0" anchor="t"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8000">
                <a:solidFill>
                  <a:srgbClr val="FFFFFF"/>
                </a:solidFill>
              </a:rPr>
              <a:t>Professional Ethics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FAC64-47F7-48FF-8616-29F0E9FB6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000">
                <a:solidFill>
                  <a:srgbClr val="FFFFFF"/>
                </a:solidFill>
              </a:rPr>
              <a:t>Lesson 2</a:t>
            </a:r>
          </a:p>
        </p:txBody>
      </p:sp>
      <p:sp>
        <p:nvSpPr>
          <p:cNvPr id="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Outcomes: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37D5E4-D25F-4242-8C9F-1AD02F282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Define Ethics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Discuss Commandments of Computer Ethics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Activity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Define ETHICS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37D5E4-D25F-4242-8C9F-1AD02F282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“</a:t>
            </a:r>
            <a:r>
              <a:rPr lang="en-US" sz="4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Ethics</a:t>
            </a: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” is currently a general term for concerns about what people should do. 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term “ethics” comes from the Greek word “</a:t>
            </a:r>
            <a:r>
              <a:rPr lang="en-US" sz="4000" b="1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ethike</a:t>
            </a: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” that means “</a:t>
            </a:r>
            <a:r>
              <a:rPr lang="en-US" sz="4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character</a:t>
            </a: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,” and indeed the ancient Greeks conceived issues about what people should do in terms of impact upon character (Aristotle, 350 BCE).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Define ETHICS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37D5E4-D25F-4242-8C9F-1AD02F282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 is when the concern is good reputation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“ethics” seems to be an inclusive term for concerns also referred to by “morality,” “value,” and “justice.”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the value or goodness of things and situations and with the justness of institutions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Define ETHICS</a:t>
            </a:r>
            <a:br>
              <a:rPr lang="en-US" altLang="en-US"/>
            </a:br>
            <a:r>
              <a:rPr lang="en-US" altLang="en-US" sz="2400"/>
              <a:t>-</a:t>
            </a:r>
            <a:r>
              <a:rPr lang="en-US" altLang="en-US" sz="2000"/>
              <a:t>www.merriam-webster.com</a:t>
            </a:r>
            <a:endParaRPr lang="en-US" altLang="en-US"/>
          </a:p>
        </p:txBody>
      </p:sp>
      <p:sp>
        <p:nvSpPr>
          <p:cNvPr id="10243" name="Content Placeholder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the discipline dealing with what is good and bad and with moral duty and obligation</a:t>
            </a:r>
          </a:p>
          <a:p>
            <a:pPr eaLnBrk="1" hangingPunct="1"/>
            <a:r>
              <a:rPr lang="en-US" altLang="en-US" sz="4000"/>
              <a:t>a set of moral principles : a theory or system of moral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Define ETHICS</a:t>
            </a:r>
            <a:br>
              <a:rPr lang="en-US" altLang="en-US"/>
            </a:br>
            <a:r>
              <a:rPr lang="en-US" altLang="en-US" sz="2400"/>
              <a:t>-</a:t>
            </a:r>
            <a:r>
              <a:rPr lang="en-US" altLang="en-US" sz="2000"/>
              <a:t>www.merriam-webster.com</a:t>
            </a:r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37D5E4-D25F-4242-8C9F-1AD02F282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principles of conduct governing an individual or a group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guiding philosophy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consciousness of moral importance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set of moral issues or aspects (such as rightness)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Ethics VS Morals: Is there a difference?</a:t>
            </a:r>
          </a:p>
        </p:txBody>
      </p:sp>
      <p:sp>
        <p:nvSpPr>
          <p:cNvPr id="12291" name="Content Placeholder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Ethics and morals are both used in the plural and are often regarded as synonyms, but there is some distinction in how they are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Ethics VS Morals: Is there a difference?</a:t>
            </a:r>
          </a:p>
        </p:txBody>
      </p:sp>
      <p:sp>
        <p:nvSpPr>
          <p:cNvPr id="13315" name="Content Placeholder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4000" b="1" i="1" dirty="0"/>
              <a:t>Morals</a:t>
            </a:r>
            <a:r>
              <a:rPr lang="en-US" altLang="en-US" sz="4000" dirty="0"/>
              <a:t> often describes one's values concerning what is right and what is wrong.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Ethics VS Morals: Is there a difference?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37D5E4-D25F-4242-8C9F-1AD02F282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 would go against my morals to help you cheat on the test.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 appears to view himself as a kind of culture warrior, striking out against the crumbling morals of modern society.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Jonathan </a:t>
            </a:r>
            <a:r>
              <a:rPr lang="en-US" sz="3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Goldsbie</a:t>
            </a: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Now Toronto, 16 Oct. 2014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Ethics VS Morals: Is there a difference?</a:t>
            </a:r>
          </a:p>
        </p:txBody>
      </p:sp>
      <p:sp>
        <p:nvSpPr>
          <p:cNvPr id="15363" name="Content Placeholder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While </a:t>
            </a:r>
            <a:r>
              <a:rPr lang="en-US" altLang="en-US" sz="4000" b="1" i="1"/>
              <a:t>ethics</a:t>
            </a:r>
            <a:r>
              <a:rPr lang="en-US" altLang="en-US" sz="4000"/>
              <a:t> can refer broadly to moral principles, one often sees it applied to questions of correct behavior within a relatively narrow area of activity:</a:t>
            </a:r>
            <a:endParaRPr lang="en-US" altLang="en-US"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Ethics VS Morals: Is there a difference?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37D5E4-D25F-4242-8C9F-1AD02F282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Our class had a debate over the ethics of genetic testing.</a:t>
            </a:r>
          </a:p>
          <a:p>
            <a:pPr marL="283464" indent="-283464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Anybody, it seemed, could make the music -- if they couldn't play guitar, they could push a button -- and nobody worried about the ethics of appropriating riffs.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-Jennifer Foote, Newsweek, 23 July 1990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Ethics VS Morals: Is there a difference?</a:t>
            </a:r>
          </a:p>
        </p:txBody>
      </p:sp>
      <p:sp>
        <p:nvSpPr>
          <p:cNvPr id="17411" name="Content Placeholder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In addition, </a:t>
            </a:r>
            <a:r>
              <a:rPr lang="en-US" altLang="en-US" sz="4000" b="1" i="1" dirty="0"/>
              <a:t>morals</a:t>
            </a:r>
            <a:r>
              <a:rPr lang="en-US" altLang="en-US" sz="4000" dirty="0"/>
              <a:t> usually connotes an element of subjective preference, while </a:t>
            </a:r>
            <a:r>
              <a:rPr lang="en-US" altLang="en-US" sz="4000" b="1" i="1" dirty="0"/>
              <a:t>ethics</a:t>
            </a:r>
            <a:r>
              <a:rPr lang="en-US" altLang="en-US" sz="4000" dirty="0"/>
              <a:t> tends to suggest aspects of universal fairness and the question of whether an action is responsible.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The 10 Commandments of Computer Ethics</a:t>
            </a:r>
            <a:br>
              <a:rPr lang="en-US" altLang="en-US" sz="4000" dirty="0"/>
            </a:br>
            <a:r>
              <a:rPr lang="en-US" altLang="en-US" sz="1800" dirty="0">
                <a:latin typeface="+mn-lt"/>
              </a:rPr>
              <a:t>listed by: Computer Ethics Institute</a:t>
            </a:r>
          </a:p>
        </p:txBody>
      </p:sp>
      <p:sp>
        <p:nvSpPr>
          <p:cNvPr id="18435" name="Content Placeholder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/>
              <a:t>Rule #1: Thou shalt not use a computer to harm other people.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400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/>
              <a:t>Rule #2: Thou shalt not interfere with other people's computer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The 10 Commandments of Computer Ethics</a:t>
            </a:r>
          </a:p>
        </p:txBody>
      </p:sp>
      <p:sp>
        <p:nvSpPr>
          <p:cNvPr id="19459" name="Content Placeholder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/>
              <a:t>Rule #3: Thou shalt not snoop around in other people's computer files.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400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/>
              <a:t>Rule #4) Thou shalt not use a computer to steal.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The 10 Commandments of Computer Ethics</a:t>
            </a:r>
          </a:p>
        </p:txBody>
      </p:sp>
      <p:sp>
        <p:nvSpPr>
          <p:cNvPr id="20483" name="Content Placeholder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 dirty="0"/>
              <a:t>Rule #5: Thou shalt not use a computer to bear false witness.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4000" dirty="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 dirty="0"/>
              <a:t>Rule #6: Thou shalt not copy or use proprietary software for which you have not paid.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The 10 Commandments of Computer Ethics</a:t>
            </a:r>
          </a:p>
        </p:txBody>
      </p:sp>
      <p:sp>
        <p:nvSpPr>
          <p:cNvPr id="21507" name="Content Placeholder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/>
              <a:t>Rule #7: Thou shalt not use other people's computer resources. without authorization or proper compensation.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4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The 10 Commandments of Computer Ethics</a:t>
            </a:r>
          </a:p>
        </p:txBody>
      </p:sp>
      <p:sp>
        <p:nvSpPr>
          <p:cNvPr id="22531" name="Content Placeholder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/>
              <a:t>Rule #8: Thou shalt not appropriate other people's intellectual output.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The 10 Commandments of Computer Ethics</a:t>
            </a:r>
          </a:p>
        </p:txBody>
      </p:sp>
      <p:sp>
        <p:nvSpPr>
          <p:cNvPr id="23555" name="Content Placeholder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/>
              <a:t>Rule #9) Thou shalt think about the social consequences of the program you are writing or the system you are designing.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The 10 Commandments of Computer Ethics</a:t>
            </a:r>
          </a:p>
        </p:txBody>
      </p:sp>
      <p:sp>
        <p:nvSpPr>
          <p:cNvPr id="24579" name="Content Placeholder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4000"/>
              <a:t>Rule #10) Thou shalt always use a computer in ways that ensure consideration and respect for your fellow humans.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The 10 Commandments of Computer Ethics</a:t>
            </a:r>
          </a:p>
        </p:txBody>
      </p:sp>
      <p:sp>
        <p:nvSpPr>
          <p:cNvPr id="25603" name="Content Placeholder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endParaRPr lang="en-US" altLang="en-US" sz="4000"/>
          </a:p>
          <a:p>
            <a:pPr marL="0" indent="0" algn="ctr" eaLnBrk="1" hangingPunct="1">
              <a:buFont typeface="Arial" panose="020B0604020202020204" pitchFamily="34" charset="0"/>
              <a:buNone/>
            </a:pPr>
            <a:endParaRPr lang="en-US" altLang="en-US" sz="4000"/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4000"/>
              <a:t>Watch this!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11500">
                <a:sym typeface="Wingdings" panose="05000000000000000000" pitchFamily="2" charset="2"/>
                <a:hlinkClick r:id="rId2" action="ppaction://hlinkfile"/>
              </a:rPr>
              <a:t></a:t>
            </a:r>
            <a:endParaRPr lang="en-US" altLang="en-US" sz="1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85071-93B5-4334-A610-2F5BFD6A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673" y="1000126"/>
            <a:ext cx="8296654" cy="5542564"/>
          </a:xfrm>
        </p:spPr>
        <p:txBody>
          <a:bodyPr>
            <a:noAutofit/>
          </a:bodyPr>
          <a:lstStyle/>
          <a:p>
            <a:pPr algn="l"/>
            <a:r>
              <a:rPr lang="en-US" sz="1800" cap="none" dirty="0">
                <a:latin typeface="+mn-lt"/>
              </a:rPr>
              <a:t>Preamble: I will use my social knowledge and skills for the benefit of the public. I will serve employers and clients with integrity, subject to an overriding responsibility for the public interest, and I will strive to enhance the competence and prestige of the professional. By these, I mean: </a:t>
            </a:r>
            <a:br>
              <a:rPr lang="en-US" sz="1800" cap="none" dirty="0">
                <a:latin typeface="+mn-lt"/>
              </a:rPr>
            </a:br>
            <a:r>
              <a:rPr lang="en-US" sz="1800" cap="none" dirty="0">
                <a:latin typeface="+mn-lt"/>
              </a:rPr>
              <a:t>• I will promote public knowledge, understanding and appreciation of information technology; </a:t>
            </a:r>
            <a:br>
              <a:rPr lang="en-US" sz="1800" cap="none" dirty="0">
                <a:latin typeface="+mn-lt"/>
              </a:rPr>
            </a:br>
            <a:r>
              <a:rPr lang="en-US" sz="1800" cap="none" dirty="0">
                <a:latin typeface="+mn-lt"/>
              </a:rPr>
              <a:t>• I will consider the general welfare and public good in the performance of my work; </a:t>
            </a:r>
            <a:br>
              <a:rPr lang="en-US" sz="1800" cap="none" dirty="0">
                <a:latin typeface="+mn-lt"/>
              </a:rPr>
            </a:br>
            <a:r>
              <a:rPr lang="en-US" sz="1800" cap="none" dirty="0">
                <a:latin typeface="+mn-lt"/>
              </a:rPr>
              <a:t>• I will advertise good or professional in a clear and truthful manner; I will comply and strictly abide by the intellectual property laws, patent laws and other related laws in respect of information technology; </a:t>
            </a:r>
            <a:br>
              <a:rPr lang="en-US" sz="1800" cap="none" dirty="0">
                <a:latin typeface="+mn-lt"/>
              </a:rPr>
            </a:br>
            <a:r>
              <a:rPr lang="en-US" sz="1800" cap="none" dirty="0">
                <a:latin typeface="+mn-lt"/>
              </a:rPr>
              <a:t>• I will accept full responsibility for the work undertaken and will utilize my skills with competence and professionalism; </a:t>
            </a:r>
            <a:br>
              <a:rPr lang="en-US" sz="1800" cap="none" dirty="0">
                <a:latin typeface="+mn-lt"/>
              </a:rPr>
            </a:br>
            <a:r>
              <a:rPr lang="en-US" sz="1800" cap="none" dirty="0">
                <a:latin typeface="+mn-lt"/>
              </a:rPr>
              <a:t>• I will make truthful statements on my areas of competence as well as the capabilities and qualities of my products and service; </a:t>
            </a:r>
            <a:br>
              <a:rPr lang="en-US" sz="1800" cap="none" dirty="0">
                <a:latin typeface="+mn-lt"/>
              </a:rPr>
            </a:br>
            <a:r>
              <a:rPr lang="en-US" sz="1800" cap="none" dirty="0">
                <a:latin typeface="+mn-lt"/>
              </a:rPr>
              <a:t>• I will not disclose or use any confidential information obtained in the course of professional duties without the consent of the parties concerned, except when required by law; </a:t>
            </a:r>
            <a:br>
              <a:rPr lang="en-US" sz="1800" cap="none" dirty="0">
                <a:latin typeface="+mn-lt"/>
              </a:rPr>
            </a:br>
            <a:r>
              <a:rPr lang="en-US" sz="1800" cap="none" dirty="0">
                <a:latin typeface="+mn-lt"/>
              </a:rPr>
              <a:t>• I will try to attain the highest in both the products and services I offer; </a:t>
            </a:r>
            <a:br>
              <a:rPr lang="en-US" sz="1800" cap="none" dirty="0">
                <a:latin typeface="+mn-lt"/>
              </a:rPr>
            </a:br>
            <a:r>
              <a:rPr lang="en-US" sz="1800" cap="none" dirty="0">
                <a:latin typeface="+mn-lt"/>
              </a:rPr>
              <a:t>• I will not knowingly participate in the development of information technology system that will promote the commission of fraud and other unlawful acts; </a:t>
            </a:r>
            <a:br>
              <a:rPr lang="en-US" sz="1800" cap="none" dirty="0">
                <a:latin typeface="+mn-lt"/>
              </a:rPr>
            </a:br>
            <a:r>
              <a:rPr lang="en-US" sz="1800" cap="none" dirty="0">
                <a:latin typeface="+mn-lt"/>
              </a:rPr>
              <a:t>• I will uphold and improve the IT professional standard through continuing professional development in order to enhance IT profession.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33CC8-288D-42C4-A2FA-75EB84BB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5285" y="180975"/>
            <a:ext cx="8401429" cy="819150"/>
          </a:xfrm>
        </p:spPr>
        <p:txBody>
          <a:bodyPr/>
          <a:lstStyle/>
          <a:p>
            <a:r>
              <a:rPr lang="en-US" sz="2000" dirty="0"/>
              <a:t>CODE OF ETHICS FOR THE FILIPINO IT PROFESSIONALS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9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963</Words>
  <Application>Microsoft Macintosh PowerPoint</Application>
  <PresentationFormat>Widescreen</PresentationFormat>
  <Paragraphs>64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Wingdings</vt:lpstr>
      <vt:lpstr>Office Theme</vt:lpstr>
      <vt:lpstr>Professional Ethics</vt:lpstr>
      <vt:lpstr>Learning Outcomes:</vt:lpstr>
      <vt:lpstr>Define ETHICS</vt:lpstr>
      <vt:lpstr>Define ETHICS</vt:lpstr>
      <vt:lpstr>Define ETHICS -www.merriam-webster.com</vt:lpstr>
      <vt:lpstr>Define ETHICS -www.merriam-webster.com</vt:lpstr>
      <vt:lpstr>Ethics VS Morals: Is there a difference?</vt:lpstr>
      <vt:lpstr>Ethics VS Morals: Is there a difference?</vt:lpstr>
      <vt:lpstr>Ethics VS Morals: Is there a difference?</vt:lpstr>
      <vt:lpstr>Ethics VS Morals: Is there a difference?</vt:lpstr>
      <vt:lpstr>Ethics VS Morals: Is there a difference?</vt:lpstr>
      <vt:lpstr>Ethics VS Morals: Is there a difference?</vt:lpstr>
      <vt:lpstr>The 10 Commandments of Computer Ethics listed by: Computer Ethics Institute</vt:lpstr>
      <vt:lpstr>The 10 Commandments of Computer Ethics</vt:lpstr>
      <vt:lpstr>The 10 Commandments of Computer Ethics</vt:lpstr>
      <vt:lpstr>The 10 Commandments of Computer Ethics</vt:lpstr>
      <vt:lpstr>The 10 Commandments of Computer Ethics</vt:lpstr>
      <vt:lpstr>The 10 Commandments of Computer Ethics</vt:lpstr>
      <vt:lpstr>The 10 Commandments of Computer Ethics</vt:lpstr>
      <vt:lpstr>The 10 Commandments of Computer Ethics</vt:lpstr>
      <vt:lpstr>Preamble: I will use my social knowledge and skills for the benefit of the public. I will serve employers and clients with integrity, subject to an overriding responsibility for the public interest, and I will strive to enhance the competence and prestige of the professional. By these, I mean:  • I will promote public knowledge, understanding and appreciation of information technology;  • I will consider the general welfare and public good in the performance of my work;  • I will advertise good or professional in a clear and truthful manner; I will comply and strictly abide by the intellectual property laws, patent laws and other related laws in respect of information technology;  • I will accept full responsibility for the work undertaken and will utilize my skills with competence and professionalism;  • I will make truthful statements on my areas of competence as well as the capabilities and qualities of my products and service;  • I will not disclose or use any confidential information obtained in the course of professional duties without the consent of the parties concerned, except when required by law;  • I will try to attain the highest in both the products and services I offer;  • I will not knowingly participate in the development of information technology system that will promote the commission of fraud and other unlawful acts;  • I will uphold and improve the IT professional standard through continuing professional development in order to enhance IT profession.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</dc:title>
  <dc:creator>joemen barrios</dc:creator>
  <cp:lastModifiedBy>joemen barrios</cp:lastModifiedBy>
  <cp:revision>40</cp:revision>
  <dcterms:created xsi:type="dcterms:W3CDTF">2019-02-06T16:11:23Z</dcterms:created>
  <dcterms:modified xsi:type="dcterms:W3CDTF">2025-08-26T11:20:31Z</dcterms:modified>
</cp:coreProperties>
</file>